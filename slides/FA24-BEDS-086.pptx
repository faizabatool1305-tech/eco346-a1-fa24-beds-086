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1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661FB0-3CD7-49D4-85B4-2D69D3E8C2FA}" type="datetimeFigureOut">
              <a:rPr lang="en-PK" smtClean="0"/>
              <a:t>23/10/2026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533AEF-9DAB-46D3-A64D-99FCF8031D2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2999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533AEF-9DAB-46D3-A64D-99FCF8031D2A}" type="slidenum">
              <a:rPr lang="en-PK" smtClean="0"/>
              <a:t>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530527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832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163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617720" y="0"/>
            <a:ext cx="118872" cy="6858000"/>
          </a:xfrm>
          <a:prstGeom prst="rect">
            <a:avLst/>
          </a:prstGeom>
          <a:solidFill>
            <a:srgbClr val="15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76656" y="932688"/>
            <a:ext cx="3474720" cy="916148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ECO346</a:t>
            </a:r>
          </a:p>
          <a:p>
            <a:pPr>
              <a:spcAft>
                <a:spcPts val="400"/>
              </a:spcAft>
              <a:defRPr sz="2600" b="1">
                <a:solidFill>
                  <a:srgbClr val="FFFFFF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4526280"/>
            <a:ext cx="3566160" cy="54681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C0DEF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VISUALIZATION</a:t>
            </a:r>
          </a:p>
          <a:p>
            <a:pPr>
              <a:spcAft>
                <a:spcPts val="400"/>
              </a:spcAft>
              <a:defRPr sz="1400" b="1">
                <a:solidFill>
                  <a:srgbClr val="C0DEF4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TECHNIQUES FOR ECONOMISTS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76088" y="1207008"/>
            <a:ext cx="6309360" cy="134703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4000" b="1">
                <a:solidFill>
                  <a:srgbClr val="16315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PSLM DATA</a:t>
            </a:r>
          </a:p>
          <a:p>
            <a:pPr>
              <a:spcAft>
                <a:spcPts val="400"/>
              </a:spcAft>
              <a:defRPr sz="4000" b="1">
                <a:solidFill>
                  <a:srgbClr val="16315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3017520"/>
            <a:ext cx="1143000" cy="64008"/>
          </a:xfrm>
          <a:prstGeom prst="rect">
            <a:avLst/>
          </a:prstGeom>
          <a:solidFill>
            <a:srgbClr val="15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0" y="3410712"/>
            <a:ext cx="6217920" cy="97770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2300" b="0">
                <a:solidFill>
                  <a:srgbClr val="1D2D3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 spending and literacy patterns</a:t>
            </a:r>
          </a:p>
          <a:p>
            <a:pPr>
              <a:spcAft>
                <a:spcPts val="400"/>
              </a:spcAft>
              <a:defRPr sz="2300" b="0">
                <a:solidFill>
                  <a:srgbClr val="1D2D3D"/>
                </a:solidFill>
                <a:latin typeface="Aptos"/>
              </a:defRPr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ural </a:t>
            </a:r>
            <a:r>
              <a:rPr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Balochistan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303520" y="5742432"/>
            <a:ext cx="6126480" cy="31085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600" b="1">
                <a:solidFill>
                  <a:srgbClr val="1568A6"/>
                </a:solidFill>
                <a:latin typeface="Aptos"/>
              </a:defRPr>
            </a:pPr>
            <a:r>
              <a:rPr lang="en-US" dirty="0"/>
              <a:t>Faiza Batool</a:t>
            </a:r>
            <a:r>
              <a:rPr dirty="0"/>
              <a:t>  •  </a:t>
            </a:r>
            <a:r>
              <a:rPr lang="en-US" dirty="0"/>
              <a:t>FA24-BEDS-086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5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23391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568A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2 • WEIGHTED DISTRIBUTION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4820"/>
            <a:ext cx="10972800" cy="4955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63152"/>
                </a:solidFill>
                <a:latin typeface="Aptos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Household-Weighted Education Spending —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Balochistan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Rural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4630"/>
          </a:xfrm>
          <a:prstGeom prst="rect">
            <a:avLst/>
          </a:prstGeom>
          <a:solidFill>
            <a:srgbClr val="D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86868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568A6"/>
                </a:solidFill>
                <a:latin typeface="Aptos"/>
              </a:defRPr>
            </a:pPr>
            <a:r>
              <a:t>02 / 05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502959"/>
            <a:ext cx="10927080" cy="3419856"/>
          </a:xfrm>
          <a:prstGeom prst="rect">
            <a:avLst/>
          </a:prstGeom>
          <a:solidFill>
            <a:srgbClr val="F7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4977679"/>
            <a:ext cx="466344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568A6"/>
                </a:solidFill>
                <a:latin typeface="Aptos"/>
              </a:defRPr>
            </a:pPr>
            <a:r>
              <a:rPr dirty="0"/>
              <a:t>WEIGHTED MEDIAN   3.54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9723" y="4946599"/>
            <a:ext cx="4663440" cy="237744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568A6"/>
                </a:solidFill>
                <a:latin typeface="Aptos"/>
              </a:defRPr>
            </a:pPr>
            <a:r>
              <a:rPr dirty="0"/>
              <a:t>90TH PERCENTILE   4.27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" y="5202936"/>
            <a:ext cx="64008" cy="1033271"/>
          </a:xfrm>
          <a:prstGeom prst="rect">
            <a:avLst/>
          </a:prstGeom>
          <a:solidFill>
            <a:srgbClr val="15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85800" y="5202936"/>
            <a:ext cx="10881360" cy="1033271"/>
          </a:xfrm>
          <a:prstGeom prst="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5294376"/>
            <a:ext cx="10058400" cy="28007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315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5623560"/>
            <a:ext cx="10241280" cy="76226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D2D3D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histogram shows the household-weighted distribution of positive education spending on a logarithmic scale. The weighted median and 90th percentile help describe typical spending and higher-spending households.</a:t>
            </a:r>
            <a:endParaRPr lang="en-PK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400" b="0">
                <a:solidFill>
                  <a:srgbClr val="1D2D3D"/>
                </a:solidFill>
                <a:latin typeface="Aptos"/>
              </a:defRPr>
            </a:pPr>
            <a:endParaRPr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E0257495-7667-A111-C887-83FAE7765F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02426" y="1471869"/>
            <a:ext cx="7148051" cy="332511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5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10058400" cy="23391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568A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3 • WEIGHTED LITERACY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13232"/>
            <a:ext cx="10972800" cy="433965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2700" b="1">
                <a:solidFill>
                  <a:srgbClr val="163152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Household-Weighted Literacy Rates by Age and Sex —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Balochistan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Rural</a:t>
            </a:r>
            <a:endParaRPr sz="2400" dirty="0"/>
          </a:p>
        </p:txBody>
      </p:sp>
      <p:sp>
        <p:nvSpPr>
          <p:cNvPr id="6" name="Rectangle 5"/>
          <p:cNvSpPr/>
          <p:nvPr/>
        </p:nvSpPr>
        <p:spPr>
          <a:xfrm>
            <a:off x="594360" y="1353312"/>
            <a:ext cx="10972800" cy="16459"/>
          </a:xfrm>
          <a:prstGeom prst="rect">
            <a:avLst/>
          </a:prstGeom>
          <a:solidFill>
            <a:srgbClr val="D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6473952"/>
            <a:ext cx="10972800" cy="14630"/>
          </a:xfrm>
          <a:prstGeom prst="rect">
            <a:avLst/>
          </a:prstGeom>
          <a:solidFill>
            <a:srgbClr val="D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698480" y="6510528"/>
            <a:ext cx="868680" cy="219456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1568A6"/>
                </a:solidFill>
                <a:latin typeface="Aptos"/>
              </a:defRPr>
            </a:pPr>
            <a:r>
              <a:t>03 / 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" y="5202936"/>
            <a:ext cx="64008" cy="1033271"/>
          </a:xfrm>
          <a:prstGeom prst="rect">
            <a:avLst/>
          </a:prstGeom>
          <a:solidFill>
            <a:srgbClr val="15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5800" y="5202936"/>
            <a:ext cx="10881360" cy="1033271"/>
          </a:xfrm>
          <a:prstGeom prst="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6112" y="5294376"/>
            <a:ext cx="10058400" cy="280077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63152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5623560"/>
            <a:ext cx="10241280" cy="495520"/>
          </a:xfrm>
          <a:prstGeom prst="rect">
            <a:avLst/>
          </a:prstGeom>
          <a:noFill/>
        </p:spPr>
        <p:txBody>
          <a:bodyPr wrap="square" lIns="18288" tIns="18288">
            <a:spAutoFit/>
          </a:bodyPr>
          <a:lstStyle/>
          <a:p>
            <a:pPr>
              <a:spcAft>
                <a:spcPts val="400"/>
              </a:spcAft>
              <a:defRPr sz="1400" b="0">
                <a:solidFill>
                  <a:srgbClr val="1D2D3D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Male literacy rates are higher than female literacy rates across all age groups in rural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Balochistan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largest gender gap occurs among individuals aged 40–44, where male literacy is approximately 55.4% compared with 7.5% for females, a difference of 47.9 percentage points</a:t>
            </a:r>
            <a:endParaRPr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6DE199D-E278-7867-75DA-0D87FBEB5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3498" y="1590605"/>
            <a:ext cx="8524568" cy="34189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15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10896"/>
            <a:ext cx="10972800" cy="23391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1568A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4–5  •  REDESIGN AND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85800"/>
            <a:ext cx="10972800" cy="900759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200"/>
              </a:spcAft>
              <a:defRPr sz="2700" b="1">
                <a:solidFill>
                  <a:srgbClr val="163152"/>
                </a:solidFill>
                <a:latin typeface="Aptos"/>
              </a:defRPr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Redesign and Python Reproduction</a:t>
            </a:r>
            <a:endParaRPr lang="en-US" dirty="0"/>
          </a:p>
          <a:p>
            <a:pPr>
              <a:spcAft>
                <a:spcPts val="200"/>
              </a:spcAft>
              <a:defRPr sz="2700" b="1">
                <a:solidFill>
                  <a:srgbClr val="163152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594360" y="1307592"/>
            <a:ext cx="10972800" cy="18288"/>
          </a:xfrm>
          <a:prstGeom prst="rect">
            <a:avLst/>
          </a:prstGeom>
          <a:solidFill>
            <a:srgbClr val="D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3566160" cy="329184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554480"/>
            <a:ext cx="3566160" cy="429768"/>
          </a:xfrm>
          <a:prstGeom prst="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1636776"/>
            <a:ext cx="3291840" cy="29546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568A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Q4  /  BEFORE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15968" y="1554480"/>
            <a:ext cx="3566160" cy="329184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15968" y="1554480"/>
            <a:ext cx="3566160" cy="429768"/>
          </a:xfrm>
          <a:prstGeom prst="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2272" y="1636776"/>
            <a:ext cx="3291840" cy="29546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568A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Q4  /  AFTER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37575" y="1554480"/>
            <a:ext cx="3566160" cy="3291840"/>
          </a:xfrm>
          <a:prstGeom prst="rect">
            <a:avLst/>
          </a:prstGeom>
          <a:solidFill>
            <a:srgbClr val="F5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37575" y="1554480"/>
            <a:ext cx="3566160" cy="429768"/>
          </a:xfrm>
          <a:prstGeom prst="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83879" y="1636776"/>
            <a:ext cx="3291840" cy="29546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568A6"/>
                </a:solidFill>
                <a:latin typeface="Aptos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Q5  /  PYTHON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83879" y="2112264"/>
            <a:ext cx="3273552" cy="2441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57615" y="2880360"/>
            <a:ext cx="2926080" cy="384048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spcAft>
                <a:spcPts val="200"/>
              </a:spcAft>
              <a:defRPr sz="1600" b="1">
                <a:solidFill>
                  <a:srgbClr val="1568A6"/>
                </a:solidFill>
                <a:latin typeface="Aptos"/>
              </a:defRPr>
            </a:pPr>
            <a:r>
              <a:t>INSERT ORIGINAL 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3337560"/>
            <a:ext cx="3017520" cy="548640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 algn="ctr">
              <a:spcAft>
                <a:spcPts val="200"/>
              </a:spcAft>
              <a:defRPr sz="1200" b="0">
                <a:solidFill>
                  <a:srgbClr val="5A6E81"/>
                </a:solidFill>
                <a:latin typeface="Aptos"/>
              </a:defRPr>
            </a:pPr>
            <a:r>
              <a:t>05_python_literacy.svg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02168" y="2112264"/>
            <a:ext cx="3273552" cy="2441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4979822"/>
            <a:ext cx="10972800" cy="1499616"/>
          </a:xfrm>
          <a:prstGeom prst="rect">
            <a:avLst/>
          </a:prstGeom>
          <a:solidFill>
            <a:srgbClr val="E5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800" b="0">
                <a:solidFill>
                  <a:srgbClr val="1D2D3D"/>
                </a:solidFill>
                <a:latin typeface="Apto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800" b="0">
                <a:solidFill>
                  <a:srgbClr val="1D2D3D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Before: The default scatterplot was redesigned into a household-weighted literacy line graph.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800" b="0">
                <a:solidFill>
                  <a:srgbClr val="1D2D3D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After: The improved graph uses separate colors for males and females, five-year age groups, clear axis labels, and a legend. This makes gender differences easier to understand.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800" b="0">
                <a:solidFill>
                  <a:srgbClr val="1D2D3D"/>
                </a:solidFill>
                <a:latin typeface="Aptos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Python: The literacy analysis was reproduced using Python with pandas and matplotlib. The Python results agree with the R results to one decimal place, supporting the reproducibility of the analysis.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800" b="0">
                <a:solidFill>
                  <a:srgbClr val="1D2D3D"/>
                </a:solidFill>
                <a:latin typeface="Aptos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94360" y="5020056"/>
            <a:ext cx="64008" cy="1271016"/>
          </a:xfrm>
          <a:prstGeom prst="rect">
            <a:avLst/>
          </a:prstGeom>
          <a:solidFill>
            <a:srgbClr val="156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5" y="6583680"/>
            <a:ext cx="10972800" cy="14630"/>
          </a:xfrm>
          <a:prstGeom prst="rect">
            <a:avLst/>
          </a:prstGeom>
          <a:solidFill>
            <a:srgbClr val="D3E3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698480" y="6510528"/>
            <a:ext cx="868680" cy="219456"/>
          </a:xfrm>
          <a:prstGeom prst="rect">
            <a:avLst/>
          </a:prstGeom>
          <a:noFill/>
        </p:spPr>
        <p:txBody>
          <a:bodyPr wrap="square" lIns="27432" tIns="18288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1568A6"/>
                </a:solidFill>
                <a:latin typeface="Aptos"/>
              </a:defRPr>
            </a:pPr>
            <a:r>
              <a:rPr dirty="0"/>
              <a:t>04 / 0</a:t>
            </a:r>
            <a:r>
              <a:rPr lang="en-US" dirty="0"/>
              <a:t>5</a:t>
            </a:r>
            <a:endParaRPr dirty="0"/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F1A357E1-11F7-E4CC-0C92-581EFF3CE0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9" y="2167128"/>
            <a:ext cx="3389678" cy="257495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05117277-072F-B6C8-109E-4675D017F1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86068" y="2039114"/>
            <a:ext cx="3477771" cy="2642614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26DDD22E-99F9-AA1A-C075-DE3CC38755A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83879" y="2241269"/>
            <a:ext cx="3273552" cy="22927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3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2A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85800" y="1371600"/>
            <a:ext cx="868680" cy="64008"/>
          </a:xfrm>
          <a:prstGeom prst="rect">
            <a:avLst/>
          </a:prstGeom>
          <a:solidFill>
            <a:srgbClr val="22AB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4944" y="621792"/>
            <a:ext cx="1005840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dirty="0">
                <a:solidFill>
                  <a:srgbClr val="C2DC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ECO346  /  DATA VISUALIZATION TECHNIQUES FOR ECONOMISTS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2212159"/>
            <a:ext cx="10789920" cy="9848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6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" y="4681728"/>
            <a:ext cx="10744200" cy="13716"/>
          </a:xfrm>
          <a:prstGeom prst="rect">
            <a:avLst/>
          </a:prstGeom>
          <a:solidFill>
            <a:srgbClr val="466E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6070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PSLM DATA ANALYSIS  •  BALOCHISTAN RURAL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5596128"/>
            <a:ext cx="9692640" cy="2308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dirty="0">
                <a:solidFill>
                  <a:srgbClr val="C2DC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FA24-BEDS-086   |   F</a:t>
            </a:r>
            <a:r>
              <a:rPr lang="en-US" sz="1500" dirty="0">
                <a:solidFill>
                  <a:srgbClr val="C2DC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aiza Batool</a:t>
            </a:r>
            <a:endParaRPr sz="1500" b="0" dirty="0">
              <a:solidFill>
                <a:srgbClr val="C2DC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661904" y="6483096"/>
            <a:ext cx="100584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/>
            <a:r>
              <a:rPr sz="1100" b="0">
                <a:solidFill>
                  <a:srgbClr val="C2DCEB"/>
                </a:solidFill>
                <a:latin typeface="Aptos Display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279</Words>
  <Application>Microsoft Office PowerPoint</Application>
  <PresentationFormat>Widescreen</PresentationFormat>
  <Paragraphs>39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Faiza Batool</dc:creator>
  <cp:keywords/>
  <dc:description>generated using python-pptx</dc:description>
  <cp:lastModifiedBy>Faiza Batool</cp:lastModifiedBy>
  <cp:revision>6</cp:revision>
  <dcterms:created xsi:type="dcterms:W3CDTF">2013-01-27T09:14:16Z</dcterms:created>
  <dcterms:modified xsi:type="dcterms:W3CDTF">2026-10-23T17:17:42Z</dcterms:modified>
  <cp:category/>
</cp:coreProperties>
</file>